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5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e Juma" userId="228992d72c858e07" providerId="LiveId" clId="{3F2FE3B8-2776-4967-A3EB-3BD1B70C5EA9}"/>
    <pc:docChg chg="modSld">
      <pc:chgData name="Maurice Juma" userId="228992d72c858e07" providerId="LiveId" clId="{3F2FE3B8-2776-4967-A3EB-3BD1B70C5EA9}" dt="2026-07-06T12:25:35.631" v="2" actId="20577"/>
      <pc:docMkLst>
        <pc:docMk/>
      </pc:docMkLst>
      <pc:sldChg chg="modSp mod">
        <pc:chgData name="Maurice Juma" userId="228992d72c858e07" providerId="LiveId" clId="{3F2FE3B8-2776-4967-A3EB-3BD1B70C5EA9}" dt="2026-07-06T12:25:35.631" v="2" actId="20577"/>
        <pc:sldMkLst>
          <pc:docMk/>
          <pc:sldMk cId="0" sldId="256"/>
        </pc:sldMkLst>
        <pc:spChg chg="mod">
          <ac:chgData name="Maurice Juma" userId="228992d72c858e07" providerId="LiveId" clId="{3F2FE3B8-2776-4967-A3EB-3BD1B70C5EA9}" dt="2026-07-06T12:25:35.631" v="2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urice Juma" userId="228992d72c858e07" providerId="LiveId" clId="{3F2FE3B8-2776-4967-A3EB-3BD1B70C5EA9}" dt="2026-07-06T12:25:23.896" v="1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82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· MONITORING &amp; EVALUATION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357055" y="411480"/>
            <a:ext cx="2377440" cy="365760"/>
          </a:xfrm>
          <a:prstGeom prst="roundRect">
            <a:avLst>
              <a:gd name="adj" fmla="val 50000"/>
            </a:avLst>
          </a:prstGeom>
          <a:ln w="12700">
            <a:solidFill>
              <a:srgbClr val="6E7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57055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– APR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maize isn't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the plate.</a:t>
            </a:r>
          </a:p>
          <a:p>
            <a:pPr marL="0" indent="0">
              <a:lnSpc>
                <a:spcPct val="105000"/>
              </a:lnSpc>
              <a:buNone/>
            </a:pP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sixteen-month performance review of Kenya's School Feeding Programme finds a well-attended, well-monitored system that its own supply chain is quietly failing to feed.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REPORTING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mo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33172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11480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9788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3.32M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89788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SERVED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66760" y="1097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COVERAGE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14173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</a:t>
            </a:r>
            <a:r>
              <a:rPr lang="en-US" sz="2200" dirty="0">
                <a:solidFill>
                  <a:srgbClr val="8F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600" dirty="0"/>
          </a:p>
        </p:txBody>
      </p:sp>
      <p:sp>
        <p:nvSpPr>
          <p:cNvPr id="17" name="Shape 15"/>
          <p:cNvSpPr/>
          <p:nvPr/>
        </p:nvSpPr>
        <p:spPr>
          <a:xfrm>
            <a:off x="8366760" y="2240280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2A3D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66760" y="2240280"/>
            <a:ext cx="1285464" cy="146304"/>
          </a:xfrm>
          <a:prstGeom prst="roundRect">
            <a:avLst>
              <a:gd name="adj" fmla="val 50000"/>
            </a:avLst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66760" y="2468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·  Gap: 60.4pp — only 2 in 5 enrolled students receive a meal on a given day.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306324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holding near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r>
              <a:rPr lang="en-US" sz="100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dropout near target, proving demand for the programme is real. But </a:t>
            </a:r>
            <a:r>
              <a:rPr lang="en-US" sz="1000" b="1" dirty="0">
                <a:solidFill>
                  <a:srgbClr val="E8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delivery (49.3%)</a:t>
            </a:r>
            <a:r>
              <a:rPr lang="en-US" sz="100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b="1" dirty="0">
                <a:solidFill>
                  <a:srgbClr val="E8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stock-outs (50.2%)</a:t>
            </a:r>
            <a:r>
              <a:rPr lang="en-US" sz="100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000" b="1" dirty="0">
                <a:solidFill>
                  <a:srgbClr val="E8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 fullness (49.6%)</a:t>
            </a:r>
            <a:r>
              <a:rPr lang="en-US" sz="100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all failing at the same systemic magnitude — a single upstream problem, not three separate ones.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94415" cy="1005840"/>
          </a:xfrm>
          <a:prstGeom prst="roundRect">
            <a:avLst>
              <a:gd name="adj" fmla="val 5455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42432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344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234440" y="5907024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schools go without supply in a given period, and of those that do receive food, half report running out before the next delivery. Fixing procurement and stock management is the single highest-leverage intervention available to this programme.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 · ALL YEARS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indicators, one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Programme-wide averages against the Indicator Performance Tracking Table (IPTT) targets, Jan-25 – Apr-26.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4008" cy="91440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1627632"/>
            <a:ext cx="64008" cy="91440"/>
          </a:xfrm>
          <a:prstGeom prst="ellipse">
            <a:avLst/>
          </a:prstGeom>
          <a:solidFill>
            <a:srgbClr val="C6862B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27632"/>
            <a:ext cx="64008" cy="91440"/>
          </a:xfrm>
          <a:prstGeom prst="ellipse">
            <a:avLst/>
          </a:prstGeom>
          <a:solidFill>
            <a:srgbClr val="C6862B">
              <a:alpha val="8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627632"/>
            <a:ext cx="64008" cy="91440"/>
          </a:xfrm>
          <a:prstGeom prst="ellipse">
            <a:avLst/>
          </a:prstGeom>
          <a:solidFill>
            <a:srgbClr val="C6862B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1627632"/>
            <a:ext cx="64008" cy="91440"/>
          </a:xfrm>
          <a:prstGeom prst="ellipse">
            <a:avLst/>
          </a:prstGeom>
          <a:solidFill>
            <a:srgbClr val="C6862B">
              <a:alpha val="6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1673352"/>
            <a:ext cx="10500055" cy="0"/>
          </a:xfrm>
          <a:prstGeom prst="line">
            <a:avLst/>
          </a:prstGeom>
          <a:noFill/>
          <a:ln w="12700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2487168" cy="45720"/>
          </a:xfrm>
          <a:prstGeom prst="rect">
            <a:avLst/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0939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4048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80.0%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" y="27432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90%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2935224"/>
            <a:ext cx="2212848" cy="201168"/>
          </a:xfrm>
          <a:prstGeom prst="roundRect">
            <a:avLst>
              <a:gd name="adj" fmla="val 50000"/>
            </a:avLst>
          </a:prstGeom>
          <a:solidFill>
            <a:srgbClr val="F6E4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93522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10.0pp below target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072384" y="196596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72384" y="1965960"/>
            <a:ext cx="2487168" cy="45720"/>
          </a:xfrm>
          <a:prstGeom prst="rect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9544" y="20939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DROPOUT 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9544" y="24048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209544" y="27432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&lt;2%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9544" y="2935224"/>
            <a:ext cx="2212848" cy="201168"/>
          </a:xfrm>
          <a:prstGeom prst="roundRect">
            <a:avLst>
              <a:gd name="adj" fmla="val 50000"/>
            </a:avLst>
          </a:prstGeom>
          <a:solidFill>
            <a:srgbClr val="F7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9544" y="293522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1.59pp above target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687568" y="196596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87568" y="1965960"/>
            <a:ext cx="2487168" cy="45720"/>
          </a:xfrm>
          <a:prstGeom prst="rect">
            <a:avLst/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24728" y="20939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MEALS SERVED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24728" y="24048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3.32M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824728" y="27432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39.6% meal coverage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24728" y="2935224"/>
            <a:ext cx="2212848" cy="201168"/>
          </a:xfrm>
          <a:prstGeom prst="roundRect">
            <a:avLst>
              <a:gd name="adj" fmla="val 50000"/>
            </a:avLst>
          </a:prstGeom>
          <a:solidFill>
            <a:srgbClr val="F6E4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24728" y="293522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60.4pp coverage gap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302752" y="196596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02752" y="1965960"/>
            <a:ext cx="2487168" cy="45720"/>
          </a:xfrm>
          <a:prstGeom prst="rect">
            <a:avLst/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39912" y="20939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DELIVERY RATE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39912" y="24048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49.3%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439912" y="27432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439912" y="2935224"/>
            <a:ext cx="2212848" cy="201168"/>
          </a:xfrm>
          <a:prstGeom prst="roundRect">
            <a:avLst>
              <a:gd name="adj" fmla="val 50000"/>
            </a:avLst>
          </a:prstGeom>
          <a:solidFill>
            <a:srgbClr val="F6E4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439912" y="293522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 miss rate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" y="3328416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" y="3328416"/>
            <a:ext cx="2487168" cy="45720"/>
          </a:xfrm>
          <a:prstGeom prst="rect">
            <a:avLst/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4360" y="345643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RATE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4360" y="376732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50.2%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594360" y="41056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0%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94360" y="4297680"/>
            <a:ext cx="2212848" cy="201168"/>
          </a:xfrm>
          <a:prstGeom prst="roundRect">
            <a:avLst>
              <a:gd name="adj" fmla="val 50000"/>
            </a:avLst>
          </a:prstGeom>
          <a:solidFill>
            <a:srgbClr val="F6E4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4360" y="42976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problem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072384" y="3328416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072384" y="3328416"/>
            <a:ext cx="2487168" cy="45720"/>
          </a:xfrm>
          <a:prstGeom prst="rect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9544" y="345643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 FULLNESS RATE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9544" y="376732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49.6%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3209544" y="41056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09544" y="4297680"/>
            <a:ext cx="2212848" cy="201168"/>
          </a:xfrm>
          <a:prstGeom prst="roundRect">
            <a:avLst>
              <a:gd name="adj" fmla="val 50000"/>
            </a:avLst>
          </a:prstGeom>
          <a:solidFill>
            <a:srgbClr val="F7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09544" y="42976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 below full 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687568" y="3328416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687568" y="3328416"/>
            <a:ext cx="2487168" cy="45720"/>
          </a:xfrm>
          <a:prstGeom prst="rect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824728" y="345643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INFRASTRUCTURE SCORE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824728" y="376732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2.50/4.0</a:t>
            </a:r>
            <a:endParaRPr lang="en-US" sz="1900" dirty="0"/>
          </a:p>
        </p:txBody>
      </p:sp>
      <p:sp>
        <p:nvSpPr>
          <p:cNvPr id="57" name="Text 55"/>
          <p:cNvSpPr/>
          <p:nvPr/>
        </p:nvSpPr>
        <p:spPr>
          <a:xfrm>
            <a:off x="5824728" y="41056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3.5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824728" y="4297680"/>
            <a:ext cx="2212848" cy="201168"/>
          </a:xfrm>
          <a:prstGeom prst="roundRect">
            <a:avLst>
              <a:gd name="adj" fmla="val 50000"/>
            </a:avLst>
          </a:prstGeom>
          <a:solidFill>
            <a:srgbClr val="F7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824728" y="42976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1.00pt below target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302752" y="3328416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302752" y="3328416"/>
            <a:ext cx="2487168" cy="45720"/>
          </a:xfrm>
          <a:prstGeom prst="rect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439912" y="345643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GOOD/EXCELLENT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439912" y="376732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1900" dirty="0"/>
          </a:p>
        </p:txBody>
      </p:sp>
      <p:sp>
        <p:nvSpPr>
          <p:cNvPr id="64" name="Text 62"/>
          <p:cNvSpPr/>
          <p:nvPr/>
        </p:nvSpPr>
        <p:spPr>
          <a:xfrm>
            <a:off x="8439912" y="410565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75%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439912" y="4297680"/>
            <a:ext cx="2212848" cy="201168"/>
          </a:xfrm>
          <a:prstGeom prst="roundRect">
            <a:avLst>
              <a:gd name="adj" fmla="val 50000"/>
            </a:avLst>
          </a:prstGeom>
          <a:solidFill>
            <a:srgbClr val="F7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439912" y="42976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25.2pp below target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57200" y="4617720"/>
            <a:ext cx="11277295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008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58368" y="5074920"/>
            <a:ext cx="54864" cy="54864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41248" y="49834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(80.0%) sits 10.0pp below target — structural barriers such as poverty and distance, not the food itself, appear to be limiting impact.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190488" y="5074920"/>
            <a:ext cx="54864" cy="54864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73368" y="49834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49.3% of schools received supplies in the period, and 50.2% reported stock-outs — a supply chain failure, not a demand-side one.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58368" y="5532120"/>
            <a:ext cx="54864" cy="54864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41248" y="54406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coverage of ~39.6% means only 2 in 5 enrolled students actually receive a meal on any given day.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190488" y="5532120"/>
            <a:ext cx="54864" cy="54864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373368" y="54406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infrastructure score of 2.50/4.0 shows water, kitchen, storage and utensil gaps limit safe meal prep even where food is delivered.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FEEDING PROGRAMME · M&amp;E REPORT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 — Executive Scorecard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food gets lost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scheduled deliveries never arrive; of those that do, half run out before the next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4008" cy="91440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1627632"/>
            <a:ext cx="64008" cy="91440"/>
          </a:xfrm>
          <a:prstGeom prst="ellipse">
            <a:avLst/>
          </a:prstGeom>
          <a:solidFill>
            <a:srgbClr val="C6862B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27632"/>
            <a:ext cx="64008" cy="91440"/>
          </a:xfrm>
          <a:prstGeom prst="ellipse">
            <a:avLst/>
          </a:prstGeom>
          <a:solidFill>
            <a:srgbClr val="C6862B">
              <a:alpha val="8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627632"/>
            <a:ext cx="64008" cy="91440"/>
          </a:xfrm>
          <a:prstGeom prst="ellipse">
            <a:avLst/>
          </a:prstGeom>
          <a:solidFill>
            <a:srgbClr val="C6862B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1627632"/>
            <a:ext cx="64008" cy="91440"/>
          </a:xfrm>
          <a:prstGeom prst="ellipse">
            <a:avLst/>
          </a:prstGeom>
          <a:solidFill>
            <a:srgbClr val="C6862B">
              <a:alpha val="6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1673352"/>
            <a:ext cx="10500055" cy="0"/>
          </a:xfrm>
          <a:prstGeom prst="line">
            <a:avLst/>
          </a:prstGeom>
          <a:noFill/>
          <a:ln w="12700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NON-DELIVERY RATE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231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50.7%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94360" y="2606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without supplies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27832" y="19202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64992" y="2231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50.2%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364992" y="2606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stock at time of survey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98464" y="19202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35624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 FULLNESS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35624" y="2231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6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49.6%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135624" y="2606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ration, when supplied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769096" y="19202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06256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MISSED MEAL DAYS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06256" y="2231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906256" y="2606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/ school / month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CAUSES (PROGRAMME-WIDE OCCURRENCES)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3593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88920" y="3611880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88920" y="3611880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39512" y="35753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~4.0k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88920" y="3995928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88920" y="3995928"/>
            <a:ext cx="2306117" cy="201168"/>
          </a:xfrm>
          <a:prstGeom prst="roundRect">
            <a:avLst>
              <a:gd name="adj" fmla="val 18182"/>
            </a:avLst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9512" y="39593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~3.9k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361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Loss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88920" y="4379976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88920" y="4379976"/>
            <a:ext cx="2139696" cy="201168"/>
          </a:xfrm>
          <a:prstGeom prst="roundRect">
            <a:avLst>
              <a:gd name="adj" fmla="val 18182"/>
            </a:avLst>
          </a:prstGeom>
          <a:solidFill>
            <a:srgbClr val="6E5A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39512" y="4343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~3.6k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4745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88920" y="4764024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88920" y="4764024"/>
            <a:ext cx="2306117" cy="201168"/>
          </a:xfrm>
          <a:prstGeom prst="roundRect">
            <a:avLst>
              <a:gd name="adj" fmla="val 18182"/>
            </a:avLst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239512" y="47274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~3.9k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5212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split almost evenly (~25% each) — a multi-point breakdown, not a single fixable link.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72200" y="3063240"/>
            <a:ext cx="5559552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5508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COMPLAINT GAPS (% OF SCHOOLS)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5508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Access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03920" y="3566160"/>
            <a:ext cx="242316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503920" y="3566160"/>
            <a:ext cx="1575054" cy="201168"/>
          </a:xfrm>
          <a:prstGeom prst="roundRect">
            <a:avLst>
              <a:gd name="adj" fmla="val 18182"/>
            </a:avLst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000232" y="35295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55080" y="3858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Facilities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503920" y="3877056"/>
            <a:ext cx="242316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503920" y="3877056"/>
            <a:ext cx="1541130" cy="201168"/>
          </a:xfrm>
          <a:prstGeom prst="roundRect">
            <a:avLst>
              <a:gd name="adj" fmla="val 18182"/>
            </a:avLst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000232" y="3840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55080" y="4169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Space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503920" y="4187952"/>
            <a:ext cx="242316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503920" y="4187952"/>
            <a:ext cx="1521744" cy="201168"/>
          </a:xfrm>
          <a:prstGeom prst="roundRect">
            <a:avLst>
              <a:gd name="adj" fmla="val 18182"/>
            </a:avLst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000232" y="41513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355080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Utensils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03920" y="4498848"/>
            <a:ext cx="242316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503920" y="4498848"/>
            <a:ext cx="1444203" cy="201168"/>
          </a:xfrm>
          <a:prstGeom prst="roundRect">
            <a:avLst>
              <a:gd name="adj" fmla="val 18182"/>
            </a:avLst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000232" y="44622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55080" y="4791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Complaint: Quality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503920" y="4809744"/>
            <a:ext cx="242316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503920" y="4809744"/>
            <a:ext cx="1226119" cy="201168"/>
          </a:xfrm>
          <a:prstGeom prst="roundRect">
            <a:avLst>
              <a:gd name="adj" fmla="val 18182"/>
            </a:avLst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1000232" y="47731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355080" y="5102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Complaint: Exclusion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503920" y="5120640"/>
            <a:ext cx="2423160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503920" y="5120640"/>
            <a:ext cx="1201887" cy="201168"/>
          </a:xfrm>
          <a:prstGeom prst="roundRect">
            <a:avLst>
              <a:gd name="adj" fmla="val 18182"/>
            </a:avLst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1000232" y="50840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FEEDING PROGRAMME · M&amp;E REPORT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 — Supply Chain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Kids are showing up. The food isn't.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sits below target but is remarkably stable — the constraint isn't demand for the programme.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4008" cy="91440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1627632"/>
            <a:ext cx="64008" cy="91440"/>
          </a:xfrm>
          <a:prstGeom prst="ellipse">
            <a:avLst/>
          </a:prstGeom>
          <a:solidFill>
            <a:srgbClr val="C6862B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27632"/>
            <a:ext cx="64008" cy="91440"/>
          </a:xfrm>
          <a:prstGeom prst="ellipse">
            <a:avLst/>
          </a:prstGeom>
          <a:solidFill>
            <a:srgbClr val="C6862B">
              <a:alpha val="8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627632"/>
            <a:ext cx="64008" cy="91440"/>
          </a:xfrm>
          <a:prstGeom prst="ellipse">
            <a:avLst/>
          </a:prstGeom>
          <a:solidFill>
            <a:srgbClr val="C6862B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1627632"/>
            <a:ext cx="64008" cy="91440"/>
          </a:xfrm>
          <a:prstGeom prst="ellipse">
            <a:avLst/>
          </a:prstGeom>
          <a:solidFill>
            <a:srgbClr val="C6862B">
              <a:alpha val="6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1673352"/>
            <a:ext cx="10500055" cy="0"/>
          </a:xfrm>
          <a:prstGeom prst="line">
            <a:avLst/>
          </a:prstGeom>
          <a:noFill/>
          <a:ln w="12700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 RATE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231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94360" y="2606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90% · 10.0pp gap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27832" y="19202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DROPOUT 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64992" y="2231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6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364992" y="2606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&lt;2% · 1.59pp over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98464" y="19202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35624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ATTENDANCE MONTH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35624" y="2231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C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135624" y="2606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Apr-25 — programme peak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769096" y="19202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06256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VS. TARGET GAP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06256" y="2231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10.0pp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906256" y="2606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critical gap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11277295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172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16-MONTH TREND (JAN-25 – APR-26)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344728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holds a flat band around 79–81% throughout the period, well under the 90% target line. Dropout mirrors it, holding steady at 3.4–3.7%, just above the 2% target.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avg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88920" y="3931920"/>
            <a:ext cx="8122615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88920" y="3931920"/>
            <a:ext cx="6498092" cy="201168"/>
          </a:xfrm>
          <a:prstGeom prst="roundRect">
            <a:avLst>
              <a:gd name="adj" fmla="val 18182"/>
            </a:avLst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099274" y="3895344"/>
            <a:ext cx="0" cy="274320"/>
          </a:xfrm>
          <a:prstGeom prst="line">
            <a:avLst/>
          </a:prstGeom>
          <a:noFill/>
          <a:ln w="19050">
            <a:solidFill>
              <a:srgbClr val="18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984687" y="38953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best mo.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88920" y="4297680"/>
            <a:ext cx="8122615" cy="201168"/>
          </a:xfrm>
          <a:prstGeom prst="roundRect">
            <a:avLst>
              <a:gd name="adj" fmla="val 18182"/>
            </a:avLst>
          </a:prstGeom>
          <a:solidFill>
            <a:srgbClr val="E2D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88920" y="4297680"/>
            <a:ext cx="6563073" cy="201168"/>
          </a:xfrm>
          <a:prstGeom prst="roundRect">
            <a:avLst>
              <a:gd name="adj" fmla="val 18182"/>
            </a:avLst>
          </a:prstGeom>
          <a:solidFill>
            <a:srgbClr val="3C7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099274" y="4261104"/>
            <a:ext cx="0" cy="274320"/>
          </a:xfrm>
          <a:prstGeom prst="line">
            <a:avLst/>
          </a:prstGeom>
          <a:noFill/>
          <a:ln w="19050">
            <a:solidFill>
              <a:srgbClr val="18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984687" y="42611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617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mark = target position on each bar's own scale.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57200" y="4983480"/>
            <a:ext cx="11277295" cy="1051560"/>
          </a:xfrm>
          <a:prstGeom prst="roundRect">
            <a:avLst>
              <a:gd name="adj" fmla="val 5217"/>
            </a:avLst>
          </a:prstGeom>
          <a:solidFill>
            <a:srgbClr val="EFF6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66360"/>
            <a:ext cx="18288" cy="18288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658368" y="5148072"/>
            <a:ext cx="54864" cy="54864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41248" y="5056632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flat across all sixteen months and does not move with supply delivery — structural barriers like poverty and distance likely dominate over food access alone.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58368" y="5605272"/>
            <a:ext cx="54864" cy="54864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41248" y="5513832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reported dropout reason is uniformly "poverty and hunger" — feeding alone cannot resolve poverty-driven dropout without complementary social protection.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FEEDING PROGRAMME · M&amp;E REPORT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 — Attendance &amp; Dropout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REGIONS COMPARED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uniformly stressed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 is meeting target — the crisis is programme-wide, not concentrated in one geography.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4008" cy="91440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1627632"/>
            <a:ext cx="64008" cy="91440"/>
          </a:xfrm>
          <a:prstGeom prst="ellipse">
            <a:avLst/>
          </a:prstGeom>
          <a:solidFill>
            <a:srgbClr val="C6862B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27632"/>
            <a:ext cx="64008" cy="91440"/>
          </a:xfrm>
          <a:prstGeom prst="ellipse">
            <a:avLst/>
          </a:prstGeom>
          <a:solidFill>
            <a:srgbClr val="C6862B">
              <a:alpha val="8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627632"/>
            <a:ext cx="64008" cy="91440"/>
          </a:xfrm>
          <a:prstGeom prst="ellipse">
            <a:avLst/>
          </a:prstGeom>
          <a:solidFill>
            <a:srgbClr val="C6862B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1627632"/>
            <a:ext cx="64008" cy="91440"/>
          </a:xfrm>
          <a:prstGeom prst="ellipse">
            <a:avLst/>
          </a:prstGeom>
          <a:solidFill>
            <a:srgbClr val="C6862B">
              <a:alpha val="6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1673352"/>
            <a:ext cx="10500055" cy="0"/>
          </a:xfrm>
          <a:prstGeom prst="line">
            <a:avLst/>
          </a:prstGeom>
          <a:noFill/>
          <a:ln w="12700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0025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ATTENDANCE REGION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2221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Western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 avg attendance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27832" y="19202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20025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DROPOUT REGION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64992" y="2221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Nyanza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64992" y="2560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 avg dropout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98464" y="19202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35624" y="20025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SUPPLY REGION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35624" y="2221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C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Nyanza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35624" y="2560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 supply rate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769096" y="19202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06256" y="20025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STOCK-OUT REGION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906256" y="2221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06256" y="2560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51.0% stock-out rate</a:t>
            </a:r>
            <a:endParaRPr lang="en-US" sz="7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9144000" cy="20497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Region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Att %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Drop %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Meals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Supply %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Stock-out %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Infra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Good Ptnr %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79.8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407K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51.0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2.48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48.8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Weak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Coast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79.8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387K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2.53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Weak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Eastern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79.9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431K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49.9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2.49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Weak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Nairobi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80.0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402K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48.9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50.7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2.51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50.2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C6862B"/>
                          </a:solidFill>
                        </a:rPr>
                        <a:t>Moderate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North Eastern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80.0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454K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48.0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50.7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2.52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51.2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C6862B"/>
                          </a:solidFill>
                        </a:rPr>
                        <a:t>Moderate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Nyanza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79.8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427K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50.4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50.4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2.46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Weak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Rift Valley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80.2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370K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50.2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2.47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C6862B"/>
                          </a:solidFill>
                        </a:rPr>
                        <a:t>Moderate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Western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80.2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447K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2.50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50.7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C6862B"/>
                          </a:solidFill>
                        </a:rPr>
                        <a:t>Moderate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57200" y="58064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read:  </a:t>
            </a:r>
            <a:r>
              <a:rPr lang="en-US" sz="95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between best and worst region on every indicator is under 3pp — a national systems failure, not a local one. North Eastern serves the most meals (454K) yet still posts a 50.7% stock-out rate.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FEEDING PROGRAMME · M&amp;E REPORT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 — Regional Analysis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IPTT · CUMULATIVE, ALL REGIONS, ALL YEARS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indicators against target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= cumulative ÷ target × 100 (lower-is-better indicators use an inverse calculation).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4008" cy="91440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1627632"/>
            <a:ext cx="64008" cy="91440"/>
          </a:xfrm>
          <a:prstGeom prst="ellipse">
            <a:avLst/>
          </a:prstGeom>
          <a:solidFill>
            <a:srgbClr val="C6862B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27632"/>
            <a:ext cx="64008" cy="91440"/>
          </a:xfrm>
          <a:prstGeom prst="ellipse">
            <a:avLst/>
          </a:prstGeom>
          <a:solidFill>
            <a:srgbClr val="C6862B">
              <a:alpha val="8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627632"/>
            <a:ext cx="64008" cy="91440"/>
          </a:xfrm>
          <a:prstGeom prst="ellipse">
            <a:avLst/>
          </a:prstGeom>
          <a:solidFill>
            <a:srgbClr val="C6862B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1627632"/>
            <a:ext cx="64008" cy="91440"/>
          </a:xfrm>
          <a:prstGeom prst="ellipse">
            <a:avLst/>
          </a:prstGeom>
          <a:solidFill>
            <a:srgbClr val="C6862B">
              <a:alpha val="6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34440" y="1673352"/>
            <a:ext cx="10500055" cy="0"/>
          </a:xfrm>
          <a:prstGeom prst="line">
            <a:avLst/>
          </a:prstGeom>
          <a:noFill/>
          <a:ln w="12700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961120" cy="3840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Indicator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Unit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Baseline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Target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Cumulative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Achievement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5B6570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1. School Attendance Rate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79.8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90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80.0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C6862B"/>
                          </a:solidFill>
                        </a:rPr>
                        <a:t>89%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C6862B"/>
                          </a:solidFill>
                        </a:rPr>
                        <a:t>Off Track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8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 Student Dropout Rate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3.4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C7A5C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3C7A5C"/>
                          </a:solidFill>
                        </a:rPr>
                        <a:t>On Track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 Meal Coverage Rate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40.5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39.6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AE3B34"/>
                          </a:solidFill>
                        </a:rPr>
                        <a:t>40%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Critical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4. Supply Delivery Rate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50.4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AE3B34"/>
                          </a:solidFill>
                        </a:rPr>
                        <a:t>49%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Critical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5. Ration Fullness Rate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51.4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AE3B34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Critical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6. Stock-out Rate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50.3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50.2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AE3B34"/>
                          </a:solidFill>
                        </a:rPr>
                        <a:t>2%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Critical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7. Infrastructure Score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/4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2.52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3.5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2.50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C6862B"/>
                          </a:solidFill>
                        </a:rPr>
                        <a:t>71%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C6862B"/>
                          </a:solidFill>
                        </a:rPr>
                        <a:t>Off Track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8. Partner Good/Excellent 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50.6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49.8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C6862B"/>
                          </a:solidFill>
                        </a:rPr>
                        <a:t>66%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C6862B"/>
                          </a:solidFill>
                        </a:rPr>
                        <a:t>Off Track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9. Avg Missed Meal Days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3.5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6570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82A36"/>
                          </a:solidFill>
                        </a:rPr>
                        <a:t>3.5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AE3B34"/>
                          </a:solidFill>
                        </a:rPr>
                        <a:t>2%</a:t>
                      </a:r>
                      <a:endParaRPr lang="en-US" sz="9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AE3B34"/>
                          </a:solidFill>
                        </a:rPr>
                        <a:t>Critical</a:t>
                      </a:r>
                      <a:endParaRPr lang="en-US" sz="8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440680"/>
            <a:ext cx="11277295" cy="960120"/>
          </a:xfrm>
          <a:prstGeom prst="roundRect">
            <a:avLst>
              <a:gd name="adj" fmla="val 5714"/>
            </a:avLst>
          </a:prstGeom>
          <a:solidFill>
            <a:srgbClr val="F6E4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55321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A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IPTT:  </a:t>
            </a:r>
            <a:r>
              <a:rPr lang="en-US" sz="950" dirty="0">
                <a:solidFill>
                  <a:srgbClr val="18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nine indicators are Critical, three more Off Track — only dropout registers On Track. The four supply-side indicators cluster at 0–50% achievement, the clearest signal this is one root-cause failure. Cumulative values are barely different from baseline: sixteen months of monitoring hasn't moved the underlying supply chain.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FEEDING PROGRAMME · M&amp;E REPORT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 — Indicator Performance Tracking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8D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pipe before scaling the tap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actions, sequenced by urgency and time horizon.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8872" cy="118872"/>
          </a:xfrm>
          <a:prstGeom prst="ellipse">
            <a:avLst/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</a:t>
            </a:r>
            <a:r>
              <a:rPr lang="en-US" sz="850" dirty="0">
                <a:solidFill>
                  <a:srgbClr val="9F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chain, meal coverage, stock-outs — fix first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343400" y="1627632"/>
            <a:ext cx="118872" cy="118872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44568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</a:t>
            </a:r>
            <a:r>
              <a:rPr lang="en-US" sz="850" dirty="0">
                <a:solidFill>
                  <a:srgbClr val="9F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dropout, infrastructure — medium-term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138160" y="1627632"/>
            <a:ext cx="118872" cy="118872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39328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</a:t>
            </a:r>
            <a:r>
              <a:rPr lang="en-US" sz="850" dirty="0">
                <a:solidFill>
                  <a:srgbClr val="9FA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performance, data quality — systems 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6656" y="2185416"/>
            <a:ext cx="292608" cy="292608"/>
          </a:xfrm>
          <a:prstGeom prst="ellipse">
            <a:avLst/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704" y="214884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Supply Chain — Immediate Procurement Reform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" y="25146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supply tracking, 30-day county buffer stocks, SLA enforcement with penalties. ~50% of schools currently receive zero food.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676656" y="2843784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6656" y="3209544"/>
            <a:ext cx="292608" cy="292608"/>
          </a:xfrm>
          <a:prstGeom prst="ellipse">
            <a:avLst/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" y="31729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Budget to Achieve 100% Meal Coverage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" y="353872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covers only ~39% of enrolled students. Commission a needs-based review; explore WFP co-financing.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676656" y="3867912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1–6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48640" y="4105656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6656" y="4233672"/>
            <a:ext cx="292608" cy="292608"/>
          </a:xfrm>
          <a:prstGeom prst="ellipse">
            <a:avLst/>
          </a:prstGeom>
          <a:solidFill>
            <a:srgbClr val="AE3B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60704" y="419709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Stock-outs via School-Level Stock Management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" y="456285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 stock tracking, automated resupply triggers below 5-day threshold, monthly unannounced audits.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676656" y="4892040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343400" y="2057400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71416" y="2185416"/>
            <a:ext cx="292608" cy="292608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71416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55464" y="214884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Multi-Sector Approach to Achieve 90% Attendance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71416" y="25146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cash transfers, school health, uniform/textbook schemes — feeding alone is insufficient.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4471416" y="2843784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3–12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343400" y="3081528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471416" y="3209544"/>
            <a:ext cx="292608" cy="292608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71416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55464" y="31729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Dropout via Poverty Linkages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471416" y="353872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feeding database to social-protection registries; identify dropout-risk students for bursaries.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4471416" y="3867912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343400" y="4105656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471416" y="4233672"/>
            <a:ext cx="292608" cy="292608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71416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55464" y="419709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Ring-fence Infrastructure Budget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71416" y="456285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budget for water, kitchen, storage, utensils via a 2-year County Infrastructure Investment Plan.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4471416" y="4892040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138160" y="2057400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266176" y="2185416"/>
            <a:ext cx="292608" cy="292608"/>
          </a:xfrm>
          <a:prstGeom prst="ellipse">
            <a:avLst/>
          </a:prstGeom>
          <a:solidFill>
            <a:srgbClr val="C6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66176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650224" y="214884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Anti-Corruption &amp; Community Oversight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266176" y="25146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committees at every school, published beneficiary lists, anonymous grievance hotlines.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8266176" y="2843784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1–6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138160" y="3081528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266176" y="3209544"/>
            <a:ext cx="292608" cy="292608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266176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650224" y="31729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Performance-Based Partner Contracting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266176" y="353872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50% of partners rated good/excellent. Quarterly reviews; deregister repeat poor performers.</a:t>
            </a:r>
            <a:endParaRPr lang="en-US" sz="770" dirty="0"/>
          </a:p>
        </p:txBody>
      </p:sp>
      <p:sp>
        <p:nvSpPr>
          <p:cNvPr id="58" name="Text 56"/>
          <p:cNvSpPr/>
          <p:nvPr/>
        </p:nvSpPr>
        <p:spPr>
          <a:xfrm>
            <a:off x="8266176" y="3867912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138160" y="4105656"/>
            <a:ext cx="3675888" cy="914400"/>
          </a:xfrm>
          <a:prstGeom prst="roundRect">
            <a:avLst>
              <a:gd name="adj" fmla="val 6000"/>
            </a:avLst>
          </a:prstGeom>
          <a:solidFill>
            <a:srgbClr val="2233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66176" y="4233672"/>
            <a:ext cx="292608" cy="292608"/>
          </a:xfrm>
          <a:prstGeom prst="ellipse">
            <a:avLst/>
          </a:prstGeom>
          <a:solidFill>
            <a:srgbClr val="1F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266176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650224" y="419709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Data Quality &amp; Monitoring Protocols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266176" y="456285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70" dirty="0">
                <a:solidFill>
                  <a:srgbClr val="AE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in mobile data collection, 10% spot-check verification, quarterly data reviews.</a:t>
            </a:r>
            <a:endParaRPr lang="en-US" sz="770" dirty="0"/>
          </a:p>
        </p:txBody>
      </p:sp>
      <p:sp>
        <p:nvSpPr>
          <p:cNvPr id="64" name="Text 62"/>
          <p:cNvSpPr/>
          <p:nvPr/>
        </p:nvSpPr>
        <p:spPr>
          <a:xfrm>
            <a:off x="8266176" y="4892040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8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FEEDING PROGRAMME · M&amp;E REPORT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19695" y="6492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C8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 — Recommendations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1511</Words>
  <Application>Microsoft Office PowerPoint</Application>
  <PresentationFormat>Widescreen</PresentationFormat>
  <Paragraphs>353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Feeding Programme — M&amp;E Report</dc:title>
  <dc:subject>PptxGenJS Presentation</dc:subject>
  <dc:creator>M&amp;E Unit</dc:creator>
  <cp:lastModifiedBy>Maurice Juma</cp:lastModifiedBy>
  <cp:revision>1</cp:revision>
  <dcterms:created xsi:type="dcterms:W3CDTF">2026-07-06T12:20:53Z</dcterms:created>
  <dcterms:modified xsi:type="dcterms:W3CDTF">2026-07-06T12:25:42Z</dcterms:modified>
</cp:coreProperties>
</file>